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Outfit"/>
      <p:regular r:id="rId15"/>
      <p:bold r:id="rId16"/>
    </p:embeddedFont>
    <p:embeddedFont>
      <p:font typeface="Outfit Medium"/>
      <p:regular r:id="rId17"/>
      <p:bold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2B810D-25DA-4591-B41C-1ACAEB03D0BD}">
  <a:tblStyle styleId="{AB2B810D-25DA-4591-B41C-1ACAEB03D0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22" Type="http://schemas.openxmlformats.org/officeDocument/2006/relationships/font" Target="fonts/DMSans-boldItalic.fntdata"/><Relationship Id="rId21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Outfit-regular.fntdata"/><Relationship Id="rId14" Type="http://schemas.openxmlformats.org/officeDocument/2006/relationships/slide" Target="slides/slide8.xml"/><Relationship Id="rId17" Type="http://schemas.openxmlformats.org/officeDocument/2006/relationships/font" Target="fonts/OutfitMedium-regular.fntdata"/><Relationship Id="rId16" Type="http://schemas.openxmlformats.org/officeDocument/2006/relationships/font" Target="fonts/Outfit-bold.fntdata"/><Relationship Id="rId19" Type="http://schemas.openxmlformats.org/officeDocument/2006/relationships/font" Target="fonts/DMSans-regular.fntdata"/><Relationship Id="rId18" Type="http://schemas.openxmlformats.org/officeDocument/2006/relationships/font" Target="fonts/Outfi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971eb2d03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971eb2d03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971eb2d03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971eb2d03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971eb2d03_8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971eb2d03_8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971eb2d03_8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971eb2d03_8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ctrTitle"/>
          </p:nvPr>
        </p:nvSpPr>
        <p:spPr>
          <a:xfrm>
            <a:off x="283250" y="292075"/>
            <a:ext cx="4160700" cy="3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Demanda Setorial e Especializações em TI</a:t>
            </a:r>
            <a:br>
              <a:rPr b="1" lang="en"/>
            </a:br>
            <a:endParaRPr sz="4800"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0" name="Google Shape;340;p33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33"/>
          <p:cNvSpPr txBox="1"/>
          <p:nvPr/>
        </p:nvSpPr>
        <p:spPr>
          <a:xfrm>
            <a:off x="632800" y="3399250"/>
            <a:ext cx="25800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Felipe dos Santos Rangel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Marcio da Costa Oliveira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Matheus Rosetti Lopes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title"/>
          </p:nvPr>
        </p:nvSpPr>
        <p:spPr>
          <a:xfrm>
            <a:off x="2567100" y="582950"/>
            <a:ext cx="400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366" name="Google Shape;366;p34"/>
          <p:cNvSpPr txBox="1"/>
          <p:nvPr>
            <p:ph idx="16" type="subTitle"/>
          </p:nvPr>
        </p:nvSpPr>
        <p:spPr>
          <a:xfrm>
            <a:off x="676625" y="1525200"/>
            <a:ext cx="2305500" cy="9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Mercado de Trabalho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3500825" y="1525200"/>
            <a:ext cx="2126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Demanda Setorial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5963875" y="1737600"/>
            <a:ext cx="221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Hipótese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1322375" y="2677225"/>
            <a:ext cx="1014000" cy="91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0" name="Google Shape;370;p34"/>
          <p:cNvSpPr txBox="1"/>
          <p:nvPr>
            <p:ph idx="16" type="subTitle"/>
          </p:nvPr>
        </p:nvSpPr>
        <p:spPr>
          <a:xfrm>
            <a:off x="676625" y="3722000"/>
            <a:ext cx="2305500" cy="9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Crescimento do uso de IA</a:t>
            </a:r>
            <a:endParaRPr sz="2200"/>
          </a:p>
        </p:txBody>
      </p:sp>
      <p:sp>
        <p:nvSpPr>
          <p:cNvPr id="371" name="Google Shape;371;p34"/>
          <p:cNvSpPr/>
          <p:nvPr/>
        </p:nvSpPr>
        <p:spPr>
          <a:xfrm>
            <a:off x="4056875" y="2654650"/>
            <a:ext cx="1014000" cy="91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34"/>
          <p:cNvSpPr txBox="1"/>
          <p:nvPr>
            <p:ph idx="16" type="subTitle"/>
          </p:nvPr>
        </p:nvSpPr>
        <p:spPr>
          <a:xfrm>
            <a:off x="3317675" y="3578000"/>
            <a:ext cx="2492400" cy="120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Areas de crescimento e recuo</a:t>
            </a:r>
            <a:endParaRPr sz="2000"/>
          </a:p>
        </p:txBody>
      </p:sp>
      <p:sp>
        <p:nvSpPr>
          <p:cNvPr id="373" name="Google Shape;373;p34"/>
          <p:cNvSpPr/>
          <p:nvPr/>
        </p:nvSpPr>
        <p:spPr>
          <a:xfrm>
            <a:off x="6565975" y="2677225"/>
            <a:ext cx="1014000" cy="91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4" name="Google Shape;374;p34"/>
          <p:cNvSpPr txBox="1"/>
          <p:nvPr>
            <p:ph idx="16" type="subTitle"/>
          </p:nvPr>
        </p:nvSpPr>
        <p:spPr>
          <a:xfrm>
            <a:off x="5990875" y="3781250"/>
            <a:ext cx="2164200" cy="7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Inteligência Artificial está, de fato, eliminando empregos em tecnologia?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</a:t>
            </a:r>
            <a:endParaRPr/>
          </a:p>
        </p:txBody>
      </p:sp>
      <p:pic>
        <p:nvPicPr>
          <p:cNvPr id="380" name="Google Shape;3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0" y="2007925"/>
            <a:ext cx="2182650" cy="11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888" y="3318575"/>
            <a:ext cx="2340225" cy="10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4113" y="2322812"/>
            <a:ext cx="995775" cy="9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4193" y="2322789"/>
            <a:ext cx="1493669" cy="14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403175" y="1176213"/>
            <a:ext cx="24582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Base de dados</a:t>
            </a:r>
            <a:endParaRPr sz="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3554175" y="1244400"/>
            <a:ext cx="20439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Modelagem</a:t>
            </a:r>
            <a:endParaRPr sz="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6290887" y="1244400"/>
            <a:ext cx="234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Visualização</a:t>
            </a:r>
            <a:endParaRPr sz="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613" y="1181150"/>
            <a:ext cx="7156774" cy="36982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2" name="Google Shape;392;p36"/>
          <p:cNvSpPr txBox="1"/>
          <p:nvPr/>
        </p:nvSpPr>
        <p:spPr>
          <a:xfrm>
            <a:off x="2769175" y="316375"/>
            <a:ext cx="3605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Desafío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Técnico</a:t>
            </a:r>
            <a:endParaRPr b="1" sz="3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Desafío Técnico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8" name="Google Shape;398;p37"/>
          <p:cNvGraphicFramePr/>
          <p:nvPr/>
        </p:nvGraphicFramePr>
        <p:xfrm>
          <a:off x="552675" y="30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{AB2B810D-25DA-4591-B41C-1ACAEB03D0BD}</a:tableStyleId>
              </a:tblPr>
              <a:tblGrid>
                <a:gridCol w="2009675"/>
                <a:gridCol w="2009675"/>
                <a:gridCol w="2009675"/>
                <a:gridCol w="2009675"/>
              </a:tblGrid>
              <a:tr h="27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valor_remuneracao_media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tamanho_estabelecimento_valor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função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subsetor_ibge_valor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R$1040377,32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 500 a 999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Administrador De Sistemas Operacionais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Com. e administraçao de imóveis, valores mobiliários, serv. Técnico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R$665130,43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 10 a 19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Engenheiros De Sistemas Operacionais Em Computação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Com. e administraçao de imóveis, valores mobiliários, serv. Técnico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R$493484,79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 500 a 999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Engenheiros De Sistemas Operacionais Em Computação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Comércio varejista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37"/>
          <p:cNvSpPr txBox="1"/>
          <p:nvPr>
            <p:ph type="title"/>
          </p:nvPr>
        </p:nvSpPr>
        <p:spPr>
          <a:xfrm>
            <a:off x="720025" y="1351050"/>
            <a:ext cx="7704000" cy="15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Validação e Outliers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Existem diversos cargos C-Level, e empresários donos de pequenas empresas que possuem grandes salários, outros trabalham em </a:t>
            </a:r>
            <a:r>
              <a:rPr lang="en" sz="2000"/>
              <a:t>multinacionais</a:t>
            </a:r>
            <a:r>
              <a:rPr lang="en" sz="2000"/>
              <a:t> e recebem em moeda estrangeira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de Demanda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 txBox="1"/>
          <p:nvPr>
            <p:ph type="title"/>
          </p:nvPr>
        </p:nvSpPr>
        <p:spPr>
          <a:xfrm>
            <a:off x="720025" y="1351050"/>
            <a:ext cx="34458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Construção do CAGR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38" title="CAGR-Formula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00" y="2065403"/>
            <a:ext cx="3540050" cy="897047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8"/>
          <p:cNvSpPr txBox="1"/>
          <p:nvPr>
            <p:ph type="title"/>
          </p:nvPr>
        </p:nvSpPr>
        <p:spPr>
          <a:xfrm>
            <a:off x="4978200" y="1351050"/>
            <a:ext cx="34458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Métrica de contratação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38" title="formula saldo de vagas (1).png"/>
          <p:cNvPicPr preferRelativeResize="0"/>
          <p:nvPr/>
        </p:nvPicPr>
        <p:blipFill rotWithShape="1">
          <a:blip r:embed="rId4">
            <a:alphaModFix/>
          </a:blip>
          <a:srcRect b="9398" l="22933" r="37458" t="8594"/>
          <a:stretch/>
        </p:blipFill>
        <p:spPr>
          <a:xfrm>
            <a:off x="5420273" y="2065412"/>
            <a:ext cx="2561649" cy="13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8"/>
          <p:cNvSpPr txBox="1"/>
          <p:nvPr>
            <p:ph type="title"/>
          </p:nvPr>
        </p:nvSpPr>
        <p:spPr>
          <a:xfrm>
            <a:off x="433225" y="3018300"/>
            <a:ext cx="40194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 CAGR é regularmente utilizado para analisar crescimento salarial, a proposta era aplica-lo para analisar entre 2022 a 2024, entendendo que o período do pandemia poderia enviezar o resultado.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4691400" y="3406175"/>
            <a:ext cx="4019400" cy="16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Uma idéia mais simples e direta que ajuda a reforçar a métrica de demanda, uma vez que além do crescimento salarial, o aumento de contratações também é um vetor poderoso na indicação de demanda.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9"/>
          <p:cNvSpPr txBox="1"/>
          <p:nvPr>
            <p:ph type="title"/>
          </p:nvPr>
        </p:nvSpPr>
        <p:spPr>
          <a:xfrm>
            <a:off x="720025" y="1351050"/>
            <a:ext cx="34458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Crescimento Setorial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9"/>
          <p:cNvSpPr txBox="1"/>
          <p:nvPr>
            <p:ph type="title"/>
          </p:nvPr>
        </p:nvSpPr>
        <p:spPr>
          <a:xfrm>
            <a:off x="4978200" y="1351050"/>
            <a:ext cx="34458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Especialização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9"/>
          <p:cNvSpPr txBox="1"/>
          <p:nvPr>
            <p:ph type="title"/>
          </p:nvPr>
        </p:nvSpPr>
        <p:spPr>
          <a:xfrm>
            <a:off x="303550" y="2020125"/>
            <a:ext cx="4149000" cy="27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inteligência Artificial não “eliminou” os empregos diretamente, mas abriu um espaço para um novo horizonte de automação computacional em dezenas de áreas. O crescimento do seu uso é uma determinante direta da demanda nos setores do mercado.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4670450" y="2020125"/>
            <a:ext cx="4195200" cy="30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demanda por uma especialização em ferramentas de IA guia os eixos determinantes de especialização do mercado. Cresce a demanda por trabalhos ligados a construção de inteligência artificial (como arquiteto de solução) e o uso da ferramento já é um diferencial apreciado pelo mercado de trabalho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 txBox="1"/>
          <p:nvPr>
            <p:ph type="title"/>
          </p:nvPr>
        </p:nvSpPr>
        <p:spPr>
          <a:xfrm>
            <a:off x="4572025" y="1991100"/>
            <a:ext cx="2019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Fim!</a:t>
            </a:r>
            <a:endParaRPr/>
          </a:p>
        </p:txBody>
      </p:sp>
      <p:grpSp>
        <p:nvGrpSpPr>
          <p:cNvPr id="425" name="Google Shape;425;p40"/>
          <p:cNvGrpSpPr/>
          <p:nvPr/>
        </p:nvGrpSpPr>
        <p:grpSpPr>
          <a:xfrm>
            <a:off x="-541907" y="-622274"/>
            <a:ext cx="4136119" cy="6091167"/>
            <a:chOff x="-541907" y="-622274"/>
            <a:chExt cx="4136119" cy="6091167"/>
          </a:xfrm>
        </p:grpSpPr>
        <p:sp>
          <p:nvSpPr>
            <p:cNvPr id="426" name="Google Shape;426;p40"/>
            <p:cNvSpPr/>
            <p:nvPr/>
          </p:nvSpPr>
          <p:spPr>
            <a:xfrm rot="10800000">
              <a:off x="84193" y="4041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 rot="10800000">
              <a:off x="993581" y="4569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 rot="10800000">
              <a:off x="2040588" y="96213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 rot="10800000">
              <a:off x="-541907" y="9621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 flipH="1">
              <a:off x="993584" y="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 flipH="1">
              <a:off x="713235" y="227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 flipH="1">
              <a:off x="421473" y="17788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 flipH="1">
              <a:off x="1611716" y="147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 flipH="1">
              <a:off x="2597873" y="-62227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 flipH="1">
              <a:off x="1260177" y="26512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 flipH="1">
              <a:off x="2180770" y="-1382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 rot="10800000">
              <a:off x="1759176" y="40451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 rot="10800000">
              <a:off x="2367643" y="26512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 rot="10800000">
              <a:off x="503546" y="35577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 rot="10800000">
              <a:off x="1759170" y="450077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flipH="1">
              <a:off x="-125473" y="53949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flipH="1">
              <a:off x="2755502" y="3194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